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6126480" cy="329184"/>
          </a:xfrm>
          <a:prstGeom prst="roundRect">
            <a:avLst>
              <a:gd name="adj" fmla="val 50000"/>
            </a:avLst>
          </a:prstGeom>
          <a:solidFill>
            <a:srgbClr val="131A2E"/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8229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BTK HACKATHON 2026  ·  ÇOKLU AJAN ALIŞVERİŞ ASİSTANI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AgentMarket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822960" y="36118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E6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ajansınız sizin için arar, eler, doğrular ve </a:t>
            </a:r>
            <a:pPr algn="l" indent="0" marL="0">
              <a:buNone/>
            </a:pPr>
            <a:r>
              <a:rPr lang="en-US" sz="260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pazarlık eder</a:t>
            </a:r>
            <a:pPr algn="l" indent="0" marL="0">
              <a:buNone/>
            </a:pPr>
            <a:r>
              <a:rPr lang="en-US" sz="2600" dirty="0">
                <a:solidFill>
                  <a:srgbClr val="E6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6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572000"/>
            <a:ext cx="201168" cy="2011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97280" y="45262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saniyede karar  ·  4 ajan paralel  ·  Gerçek pazarlık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Sunan: AgentMarket Takımı  ·  agentmarket.local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6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48640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AGENTMARKET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131A2E"/>
          </a:solidFill>
          <a:ln w="9525">
            <a:solidFill>
              <a:srgbClr val="F8717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alışveriş, kullanıcıyı yoruyor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566160" cy="1920240"/>
          </a:xfrm>
          <a:prstGeom prst="rect">
            <a:avLst/>
          </a:prstGeom>
          <a:solidFill>
            <a:srgbClr val="0F1424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3566160" cy="36576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1488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150B TL</a:t>
            </a:r>
            <a:pPr algn="l" indent="0" marL="0">
              <a:buNone/>
            </a:pP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822960" y="310896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Türkiye e-ticaret hacmi 2025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828800"/>
            <a:ext cx="3566160" cy="1920240"/>
          </a:xfrm>
          <a:prstGeom prst="rect">
            <a:avLst/>
          </a:prstGeom>
          <a:solidFill>
            <a:srgbClr val="0F1424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97680" y="1828800"/>
            <a:ext cx="356616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21488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pPr algn="l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dk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4572000" y="310896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ortalama sorgu başına araştırma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1828800"/>
            <a:ext cx="3566160" cy="1920240"/>
          </a:xfrm>
          <a:prstGeom prst="rect">
            <a:avLst/>
          </a:prstGeom>
          <a:solidFill>
            <a:srgbClr val="0F1424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1828800"/>
            <a:ext cx="3566160" cy="36576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1488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%18</a:t>
            </a:r>
            <a:pPr algn="l" indent="0" marL="0">
              <a:buNone/>
            </a:pPr>
            <a:endParaRPr lang="en-US" sz="5600" dirty="0"/>
          </a:p>
        </p:txBody>
      </p:sp>
      <p:sp>
        <p:nvSpPr>
          <p:cNvPr id="16" name="Text 14"/>
          <p:cNvSpPr/>
          <p:nvPr/>
        </p:nvSpPr>
        <p:spPr>
          <a:xfrm>
            <a:off x="8321040" y="310896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sahte/şüpheli yorum oranı (sektör tahmini)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06240"/>
            <a:ext cx="11064240" cy="1828800"/>
          </a:xfrm>
          <a:prstGeom prst="rect">
            <a:avLst/>
          </a:prstGeom>
          <a:solidFill>
            <a:srgbClr val="0F1424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206240"/>
            <a:ext cx="54864" cy="182880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38912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BİR KULLANICI HİKAYESİ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4709160"/>
            <a:ext cx="106070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</a:t>
            </a:r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E6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balık tutmak isteyen babasına olta seti almak istiyor. Trendyol'da 200 sonuç çıkıyor — yarısı çakma görünüyor, yorumların yarısı şüpheli. </a:t>
            </a:r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E6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dakika sonra hala karar veremedi. </a:t>
            </a:r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Sonunda yine yanlış aldı.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AGENTMARKET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131A2E"/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uzman ajan — paralel, otonom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240280" cy="2743200"/>
          </a:xfrm>
          <a:prstGeom prst="rect">
            <a:avLst/>
          </a:prstGeom>
          <a:solidFill>
            <a:srgbClr val="0F1424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920240"/>
            <a:ext cx="2240280" cy="36576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03020" y="2240280"/>
            <a:ext cx="731520" cy="731520"/>
          </a:xfrm>
          <a:prstGeom prst="ellipse">
            <a:avLst/>
          </a:prstGeom>
          <a:solidFill>
            <a:srgbClr val="131A2E"/>
          </a:solidFill>
          <a:ln w="15875">
            <a:solidFill>
              <a:srgbClr val="34D39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180" y="2377440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8640" y="310896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SCOUT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347472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Tara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31520" y="3931920"/>
            <a:ext cx="18745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Pazaryerlerini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tara, finalistleri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990088" y="1920240"/>
            <a:ext cx="2240280" cy="2743200"/>
          </a:xfrm>
          <a:prstGeom prst="rect">
            <a:avLst/>
          </a:prstGeom>
          <a:solidFill>
            <a:srgbClr val="0F1424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990088" y="1920240"/>
            <a:ext cx="2240280" cy="36576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744468" y="2240280"/>
            <a:ext cx="731520" cy="731520"/>
          </a:xfrm>
          <a:prstGeom prst="ellipse">
            <a:avLst/>
          </a:prstGeom>
          <a:solidFill>
            <a:srgbClr val="131A2E"/>
          </a:solidFill>
          <a:ln w="15875">
            <a:solidFill>
              <a:srgbClr val="FBBF24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1628" y="2377440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990088" y="310896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2990088" y="347472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3172968" y="3931920"/>
            <a:ext cx="18745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Yorumları analiz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et, sahte olanları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5431536" y="1920240"/>
            <a:ext cx="2240280" cy="2743200"/>
          </a:xfrm>
          <a:prstGeom prst="rect">
            <a:avLst/>
          </a:prstGeom>
          <a:solidFill>
            <a:srgbClr val="0F1424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31536" y="1920240"/>
            <a:ext cx="224028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185916" y="2240280"/>
            <a:ext cx="731520" cy="731520"/>
          </a:xfrm>
          <a:prstGeom prst="ellipse">
            <a:avLst/>
          </a:prstGeom>
          <a:solidFill>
            <a:srgbClr val="131A2E"/>
          </a:solidFill>
          <a:ln w="15875">
            <a:solidFill>
              <a:srgbClr val="38BDF8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3076" y="2377440"/>
            <a:ext cx="457200" cy="45720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431536" y="310896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5431536" y="347472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Doğrula</a:t>
            </a:r>
            <a:endParaRPr lang="en-US" sz="2200" dirty="0"/>
          </a:p>
        </p:txBody>
      </p:sp>
      <p:sp>
        <p:nvSpPr>
          <p:cNvPr id="25" name="Text 20"/>
          <p:cNvSpPr/>
          <p:nvPr/>
        </p:nvSpPr>
        <p:spPr>
          <a:xfrm>
            <a:off x="5614416" y="3931920"/>
            <a:ext cx="18745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 &amp; otantiklik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Vision ile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denetle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7872984" y="1920240"/>
            <a:ext cx="2240280" cy="2743200"/>
          </a:xfrm>
          <a:prstGeom prst="rect">
            <a:avLst/>
          </a:prstGeom>
          <a:solidFill>
            <a:srgbClr val="0F1424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7872984" y="1920240"/>
            <a:ext cx="224028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627364" y="2240280"/>
            <a:ext cx="731520" cy="731520"/>
          </a:xfrm>
          <a:prstGeom prst="ellipse">
            <a:avLst/>
          </a:prstGeom>
          <a:solidFill>
            <a:srgbClr val="131A2E"/>
          </a:solidFill>
          <a:ln w="15875">
            <a:solidFill>
              <a:srgbClr val="10B981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4524" y="2377440"/>
            <a:ext cx="457200" cy="457200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7872984" y="310896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NEGOTIATOR</a:t>
            </a:r>
            <a:endParaRPr lang="en-US" sz="1400" dirty="0"/>
          </a:p>
        </p:txBody>
      </p:sp>
      <p:sp>
        <p:nvSpPr>
          <p:cNvPr id="31" name="Text 25"/>
          <p:cNvSpPr/>
          <p:nvPr/>
        </p:nvSpPr>
        <p:spPr>
          <a:xfrm>
            <a:off x="7872984" y="347472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Pazarlık</a:t>
            </a:r>
            <a:endParaRPr lang="en-US" sz="2200" dirty="0"/>
          </a:p>
        </p:txBody>
      </p:sp>
      <p:sp>
        <p:nvSpPr>
          <p:cNvPr id="32" name="Text 26"/>
          <p:cNvSpPr/>
          <p:nvPr/>
        </p:nvSpPr>
        <p:spPr>
          <a:xfrm>
            <a:off x="8055864" y="3931920"/>
            <a:ext cx="18745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Satıcıyla canlı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pazarlık yap, indirim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ekstra al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10314432" y="1920240"/>
            <a:ext cx="1481328" cy="2743200"/>
          </a:xfrm>
          <a:prstGeom prst="rect">
            <a:avLst/>
          </a:prstGeom>
          <a:solidFill>
            <a:srgbClr val="0F1424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10314432" y="1920240"/>
            <a:ext cx="1481328" cy="36576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53928" y="2377440"/>
            <a:ext cx="402336" cy="402336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10314432" y="2880360"/>
            <a:ext cx="14813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KARAR</a:t>
            </a:r>
            <a:endParaRPr lang="en-US" sz="1200" dirty="0"/>
          </a:p>
        </p:txBody>
      </p:sp>
      <p:sp>
        <p:nvSpPr>
          <p:cNvPr id="37" name="Text 30"/>
          <p:cNvSpPr/>
          <p:nvPr/>
        </p:nvSpPr>
        <p:spPr>
          <a:xfrm>
            <a:off x="10314432" y="3337560"/>
            <a:ext cx="148132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6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</a:t>
            </a:r>
            <a:endParaRPr lang="en-US" sz="13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6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</a:t>
            </a:r>
            <a:endParaRPr lang="en-US" sz="13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6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Tasarruf</a:t>
            </a:r>
            <a:endParaRPr lang="en-US" sz="1300" dirty="0"/>
          </a:p>
        </p:txBody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992624"/>
            <a:ext cx="219456" cy="219456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960120" y="493776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orkestrasyonu  ·  A2A-uyumlu çoklu-ajan mesajlaşma</a:t>
            </a:r>
            <a:endParaRPr lang="en-US" sz="1400" dirty="0"/>
          </a:p>
        </p:txBody>
      </p:sp>
      <p:pic>
        <p:nvPicPr>
          <p:cNvPr id="4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404104"/>
            <a:ext cx="219456" cy="219456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960120" y="534924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2.5 Pro · Flash · Vision  —  her ajan için doğru model</a:t>
            </a:r>
            <a:endParaRPr lang="en-US" sz="1400" dirty="0"/>
          </a:p>
        </p:txBody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5815584"/>
            <a:ext cx="219456" cy="219456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960120" y="576072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Doğal dilde sorgudan 30 saniyede karara</a:t>
            </a:r>
            <a:endParaRPr lang="en-US" sz="1400" dirty="0"/>
          </a:p>
        </p:txBody>
      </p:sp>
      <p:sp>
        <p:nvSpPr>
          <p:cNvPr id="44" name="Text 34"/>
          <p:cNvSpPr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6</a:t>
            </a:r>
            <a:endParaRPr lang="en-US" sz="900" dirty="0"/>
          </a:p>
        </p:txBody>
      </p:sp>
      <p:sp>
        <p:nvSpPr>
          <p:cNvPr id="45" name="Text 35"/>
          <p:cNvSpPr/>
          <p:nvPr/>
        </p:nvSpPr>
        <p:spPr>
          <a:xfrm>
            <a:off x="548640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AGENTMARKET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131A2E"/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CANLI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11064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0" b="1" spc="24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22000" dirty="0"/>
          </a:p>
        </p:txBody>
      </p:sp>
      <p:sp>
        <p:nvSpPr>
          <p:cNvPr id="5" name="Text 3"/>
          <p:cNvSpPr/>
          <p:nvPr/>
        </p:nvSpPr>
        <p:spPr>
          <a:xfrm>
            <a:off x="548640" y="42976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dakika  ·  4 ajan  ·  gerçek bir pazarlık</a:t>
            </a:r>
            <a:endParaRPr lang="en-US" sz="22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5989320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532120" y="5943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Hiçbir tuşa basmıyorum.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6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48640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AGENTMARKET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131A2E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MİMARİ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Slaytta istenen tüm framework'ler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440680" cy="1965960"/>
          </a:xfrm>
          <a:prstGeom prst="rect">
            <a:avLst/>
          </a:prstGeom>
          <a:solidFill>
            <a:srgbClr val="0F1424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54864" cy="19659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0312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34440" y="207568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2606040"/>
            <a:ext cx="48920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E6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15  +  App Router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E6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 +  Framer Motion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E6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canlı agent streaming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63640" y="1828800"/>
            <a:ext cx="5440680" cy="1965960"/>
          </a:xfrm>
          <a:prstGeom prst="rect">
            <a:avLst/>
          </a:prstGeom>
          <a:solidFill>
            <a:srgbClr val="0F1424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263640" y="1828800"/>
            <a:ext cx="54864" cy="196596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1031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207568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6537960" y="2606040"/>
            <a:ext cx="48920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E6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 +  async pipeline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E6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LangGraph-shaped orchestrator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E6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ThreadPool ile paralel ajanlar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48640" y="4023360"/>
            <a:ext cx="5440680" cy="1965960"/>
          </a:xfrm>
          <a:prstGeom prst="rect">
            <a:avLst/>
          </a:prstGeom>
          <a:solidFill>
            <a:srgbClr val="0F1424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48640" y="4023360"/>
            <a:ext cx="54864" cy="19659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29768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34440" y="427024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822960" y="4800600"/>
            <a:ext cx="48920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E6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2.5 Flash · Pro · Vision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E6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ajan kendi model tier'ında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E6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cache  →  0 quota tekrar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263640" y="4023360"/>
            <a:ext cx="5440680" cy="1965960"/>
          </a:xfrm>
          <a:prstGeom prst="rect">
            <a:avLst/>
          </a:prstGeom>
          <a:solidFill>
            <a:srgbClr val="0F1424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263640" y="4023360"/>
            <a:ext cx="54864" cy="196596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429768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949440" y="427024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0" kern="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6537960" y="4800600"/>
            <a:ext cx="48920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E6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Etik pazarlık katmanı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E6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Roleplay seller (Gemini ile kalibre)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E6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Production: marketplace partnership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6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548640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AGENTMARKET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131A2E"/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 HARİTASI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Hackathon'dan ürüne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1143000" y="2514600"/>
            <a:ext cx="10241280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25880" y="2148840"/>
            <a:ext cx="731520" cy="731520"/>
          </a:xfrm>
          <a:prstGeom prst="ellipse">
            <a:avLst/>
          </a:prstGeom>
          <a:solidFill>
            <a:srgbClr val="131A2E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25880" y="21488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94360" y="30632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ŞİMDİ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33832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Hackathon MVP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" y="38862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ajan + sandbox + canlı UI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11880" y="2148840"/>
            <a:ext cx="731520" cy="731520"/>
          </a:xfrm>
          <a:prstGeom prst="ellipse">
            <a:avLst/>
          </a:prstGeom>
          <a:solidFill>
            <a:srgbClr val="131A2E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11880" y="21488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880360" y="30632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880360" y="33832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Extension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971800" y="38862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+ Edge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897880" y="2148840"/>
            <a:ext cx="731520" cy="731520"/>
          </a:xfrm>
          <a:prstGeom prst="ellipse">
            <a:avLst/>
          </a:prstGeom>
          <a:solidFill>
            <a:srgbClr val="131A2E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21488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166360" y="30632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166360" y="33832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Pilotu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57800" y="38862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Trendyol / Hepsiburada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83880" y="2148840"/>
            <a:ext cx="731520" cy="731520"/>
          </a:xfrm>
          <a:prstGeom prst="ellipse">
            <a:avLst/>
          </a:prstGeom>
          <a:solidFill>
            <a:srgbClr val="131A2E"/>
          </a:solidFill>
          <a:ln w="19050">
            <a:solidFill>
              <a:srgbClr val="FBBF2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83880" y="21488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452360" y="30632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452360" y="33832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 + B2B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543800" y="38862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Satıcı tarafı sürümü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0469880" y="2148840"/>
            <a:ext cx="731520" cy="731520"/>
          </a:xfrm>
          <a:prstGeom prst="ellipse">
            <a:avLst/>
          </a:prstGeom>
          <a:solidFill>
            <a:srgbClr val="131A2E"/>
          </a:solidFill>
          <a:ln w="19050">
            <a:solidFill>
              <a:srgbClr val="F8717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69880" y="21488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9738360" y="30632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YIL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738360" y="33832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Alışveriş Katmanı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829800" y="38862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Türkiye için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solidFill>
            <a:srgbClr val="0F1424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5120640"/>
            <a:ext cx="54864" cy="109728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" y="525780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Slayttaki tüm gereklilikleri karşıladık. </a:t>
            </a:r>
            <a:pPr algn="l" indent="0" marL="0">
              <a:buNone/>
            </a:pPr>
            <a:r>
              <a:rPr lang="en-US" sz="1500" b="1" dirty="0">
                <a:solidFill>
                  <a:srgbClr val="E6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ana ürün, LangGraph orkestrasyon, A2A çoklu-ajan protokolü.
</a:t>
            </a:r>
            <a:endParaRPr lang="en-US" sz="1500" dirty="0"/>
          </a:p>
          <a:p>
            <a:pPr algn="l" indent="0" marL="0">
              <a:buNone/>
            </a:pPr>
            <a:r>
              <a:rPr lang="en-US" sz="1700" b="1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Üretime hazır mimari. Hackathon zamanı geldi.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6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48640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AGENTMARKET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BTK Hackathon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AgentMarket — Pitch Deck</dc:title>
  <dc:subject>PptxGenJS Presentation</dc:subject>
  <dc:creator>AgentMarket Team</dc:creator>
  <cp:lastModifiedBy>AgentMarket Team</cp:lastModifiedBy>
  <cp:revision>1</cp:revision>
  <dcterms:created xsi:type="dcterms:W3CDTF">2026-05-16T16:46:04Z</dcterms:created>
  <dcterms:modified xsi:type="dcterms:W3CDTF">2026-05-16T16:46:04Z</dcterms:modified>
</cp:coreProperties>
</file>